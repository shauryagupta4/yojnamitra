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[0:00 - 0:45] SLIDE 1: INTRODUCTION</a:t>
            </a:r>
          </a:p>
          <a:p>
            <a:r>
              <a:t>"Good morning respected judges and audience. Today, we are proud to introduce YojanaMitra — an autonomous Multi-Agent AI platform that revolutionizes how 1.4 billion citizens discover, verify, and access government welfare schemes and scholarships.</a:t>
            </a:r>
          </a:p>
          <a:p>
            <a:r>
              <a:t>While India possesses the world's most expansive direct benefit transfer ecosystem, millions of deserving students, farmers, and daily-wage earners remain locked out due to fractured portals and middlemen. Today, we demonstrate how Multi-Agent Systems eliminate this friction entirely."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[0:45 - 1:35] SLIDE 2: THE PROBLEM STATEMENT</a:t>
            </a:r>
          </a:p>
          <a:p>
            <a:r>
              <a:t>"Every year, thousands of crores of government welfare budgets lapse untouched. Why? Because the system suffers from four critical bottlenecks:</a:t>
            </a:r>
          </a:p>
          <a:p>
            <a:r>
              <a:t>First, extreme portal fragmentation — citizens must navigate 500+ siloed government domains.</a:t>
            </a:r>
          </a:p>
          <a:p>
            <a:r>
              <a:t>Second, middleman exploitation — vulnerable applicants pay bribes or cyber-café fees just to check their eligibility.</a:t>
            </a:r>
          </a:p>
          <a:p>
            <a:r>
              <a:t>Third, standard AI models fail here because LLMs hallucinate rules and concoct fake schemes.</a:t>
            </a:r>
          </a:p>
          <a:p>
            <a:r>
              <a:t>And fourth, expired schemes and outdated forms waste citizens' valuable time and hope.</a:t>
            </a:r>
          </a:p>
          <a:p>
            <a:r>
              <a:t>YojanaMitra was engineered specifically to solve this four-fold crisis."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[1:35 - 2:30] SLIDE 3: THE PROPOSED SOLUTION</a:t>
            </a:r>
          </a:p>
          <a:p>
            <a:r>
              <a:t>"To solve this, we built YojanaMitra. YojanaMitra is a sovereign, Multi-Agent Public Digital Infrastructure designed to give every Indian citizen an intelligent welfare navigator.</a:t>
            </a:r>
          </a:p>
          <a:p>
            <a:r>
              <a:t>Instead of forcing a student in Bihar or a farmer in UP to decode 40-page PDF policy circulars, they input their basic profile — their state, education level, category, and income.</a:t>
            </a:r>
          </a:p>
          <a:p>
            <a:r>
              <a:t>Our engine executes live web grounding across official registries, filters out closed deadlines, and gives the user their exact verified eligibility, benefit terms, and the direct official government application link."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[2:30 - 3:35] SLIDE 4: MULTI-AGENT SYSTEM (MAS) ARCHITECTURE</a:t>
            </a:r>
          </a:p>
          <a:p>
            <a:r>
              <a:t>"The core breakthrough of YojanaMitra is our Multi-Agent Architecture. A single prompt LLM cannot handle welfare discovery because it lacks real-time verification and hallucinates rules.</a:t>
            </a:r>
          </a:p>
          <a:p>
            <a:r>
              <a:t>We divide the workflow among 5 specialized autonomous agents:</a:t>
            </a:r>
          </a:p>
          <a:p>
            <a:r>
              <a:t>Agent 1 is the Intake Specialist: cleans demographic parameters and prevents prompt injection.</a:t>
            </a:r>
          </a:p>
          <a:p>
            <a:r>
              <a:t>Agent 2 is our Discovery Engine: crawls official portals in real-time using headless web scrapers.</a:t>
            </a:r>
          </a:p>
          <a:p>
            <a:r>
              <a:t>Agent 3 is our Sentinel Verifier: a deterministic auditor evaluating our 7-pillar checklist — verifying portal authorities and stripping out expired deadlines.</a:t>
            </a:r>
          </a:p>
          <a:p>
            <a:r>
              <a:t>Agent 4 is the Citizen Advisor: writes custom guidance notes explaining exactly how to qualify.</a:t>
            </a:r>
          </a:p>
          <a:p>
            <a:r>
              <a:t>And Agent 5 is the Direct Hand-Off: safely routing citizens to official .gov.in portals.</a:t>
            </a:r>
          </a:p>
          <a:p>
            <a:r>
              <a:t>By enforcing separation of duties, hallucination drops to zero while accuracy reaches production standards."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[3:35 - 4:25] SLIDE 5: KEY FEATURES &amp; TECHNICAL INNOVATIONS</a:t>
            </a:r>
          </a:p>
          <a:p>
            <a:r>
              <a:t>"What differentiates YojanaMitra from anything built before?</a:t>
            </a:r>
          </a:p>
          <a:p>
            <a:r>
              <a:t>First, our 7-Pillar Verification engine. In our demo, you will see unverified schemes or schemes lacking official portal authority are completely suppressed.</a:t>
            </a:r>
          </a:p>
          <a:p>
            <a:r>
              <a:t>Second, our Deadlines Engine: if a scholarship closed on October 15th, it is recognized as expired and excluded so citizens never waste time.</a:t>
            </a:r>
          </a:p>
          <a:p>
            <a:r>
              <a:t>Third, privacy by design: citizens don't upload Aadhaar cards or bank numbers; all logic executes on high-level demographics.</a:t>
            </a:r>
          </a:p>
          <a:p>
            <a:r>
              <a:t>And fourth, our hybrid architecture: backed by Supabase PostgreSQL for verified instant matching and live headless scrapers for ongoing discovery."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[4:25 - 5:00] SLIDE 6: IMPACT &amp; CONCLUSION</a:t>
            </a:r>
          </a:p>
          <a:p>
            <a:r>
              <a:t>"To wrap up: YojanaMitra is currently live and tested across Uttar Pradesh, Delhi, and Bihar. We have verified dozens of live schemes and scholarships in production.</a:t>
            </a:r>
          </a:p>
          <a:p>
            <a:r>
              <a:t>Our roadmap includes voice interaction in local dialects via Bhashini and 1-click DigiLocker submission.</a:t>
            </a:r>
          </a:p>
          <a:p>
            <a:r>
              <a:t>With YojanaMitra, no student will drop out of college for lack of scholarship awareness, and no farmer will lose their rightful subsidy to an intermediary.</a:t>
            </a:r>
          </a:p>
          <a:p>
            <a:r>
              <a:t>Thank you, and we welcome your questions!"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A580C"/>
                </a:solidFill>
              </a:defRPr>
            </a:pPr>
            <a:r>
              <a:t>AI EXHIBITION &amp; NATIONAL INNOVATION SHOWCASE • 5-MINUTE PITCH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YojanaMitra (योजनामित्र)</a:t>
            </a:r>
          </a:p>
          <a:p>
            <a:pPr>
              <a:spcAft>
                <a:spcPts val="2000"/>
              </a:spcAft>
              <a:defRPr sz="1800">
                <a:solidFill>
                  <a:srgbClr val="BFDBFE"/>
                </a:solidFill>
              </a:defRPr>
            </a:pPr>
            <a:r>
              <a:t>Autonomous Multi-Agent AI System for Verified Citizen Welfare &amp; Scholarship Discovery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Eliminating Middlemen • Live Official Portal Grounding • 100% Zero-Disinformation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solidFill>
            <a:srgbClr val="0F2E5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PRESENTATION DURATION: 5 MINUTES  |  TARGET TRACK: PUBLIC DIGITAL INFRASTRUCTURE &amp; GOVERNANCE AI  |  FRAMEWORK: MULTI-AGENT ARCHITECTURE (MAS)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PROBLEM STATEMENT &amp; MARKET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The Problem: The Citizen Welfare &amp; Scholarship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1. Extreme Fragmentation</a:t>
            </a:r>
          </a:p>
          <a:p>
            <a:pPr>
              <a:spcAft>
                <a:spcPts val="1200"/>
              </a:spcAft>
              <a:defRPr sz="1400" b="1">
                <a:solidFill>
                  <a:srgbClr val="EA580C"/>
                </a:solidFill>
              </a:defRPr>
            </a:pPr>
            <a:r>
              <a:t>Thousands of Portals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Central and State governments operate 2,500+ welfare schemes across 500+ independent portals (NSP, MyScheme, State DHE, MahaDBT, UP Scholarship), creating impossible cognitive overload for citizens.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468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2. The Middleman Tax</a:t>
            </a:r>
          </a:p>
          <a:p>
            <a:pPr>
              <a:spcAft>
                <a:spcPts val="1200"/>
              </a:spcAft>
              <a:defRPr sz="1400" b="1">
                <a:solidFill>
                  <a:srgbClr val="0B2545"/>
                </a:solidFill>
              </a:defRPr>
            </a:pPr>
            <a:r>
              <a:t>30–40% Exploitation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Citizens lose up to 30–40% of their intended benefit to cyber-café touts and unofficial intermediaries who charge exorbitant fees for basic form submissions and false promises.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468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3. AI Hallucination Risk</a:t>
            </a:r>
          </a:p>
          <a:p>
            <a:pPr>
              <a:spcAft>
                <a:spcPts val="1200"/>
              </a:spcAft>
              <a:defRPr sz="1400" b="1">
                <a:solidFill>
                  <a:srgbClr val="15803D"/>
                </a:solidFill>
              </a:defRPr>
            </a:pPr>
            <a:r>
              <a:t>Disinformation Crisis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Generic AI chatbots (like ChatGPT) frequently hallucinate eligibility rules, generate broken links, or quote expired 2021 financial stipends, putting vulnerable citizens at financial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914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1645920"/>
            <a:ext cx="2468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4. Expired Deadlines</a:t>
            </a:r>
          </a:p>
          <a:p>
            <a:pPr>
              <a:spcAft>
                <a:spcPts val="1200"/>
              </a:spcAft>
              <a:defRPr sz="1400" b="1">
                <a:solidFill>
                  <a:srgbClr val="E11D48"/>
                </a:solidFill>
              </a:defRPr>
            </a:pPr>
            <a:r>
              <a:t>₹10,000+ Cr Unclaimed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Deadlines lapse silently without notifications. Eligible students and farmers only discover programs after registrations close, leaving billions in budgeted public funds unutilized.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645920"/>
            <a:ext cx="24688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SOLUTION ARCHITECTURE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The Proposed Solution: YojanaMitra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  <a:defRPr sz="1100" b="1">
                <a:solidFill>
                  <a:srgbClr val="EA580C"/>
                </a:solidFill>
              </a:defRPr>
            </a:pPr>
            <a:r>
              <a:t>WHAT IS YOJANAMITRA?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Autonomous, Sovereign Multi-Agent Welfare Infrastructure</a:t>
            </a:r>
          </a:p>
          <a:p>
            <a:pPr>
              <a:spcAft>
                <a:spcPts val="1600"/>
              </a:spcAft>
              <a:defRPr sz="1200">
                <a:solidFill>
                  <a:srgbClr val="CBD5E1"/>
                </a:solidFill>
              </a:defRPr>
            </a:pPr>
            <a:r>
              <a:t>YojanaMitra is an AI-powered public digital public good that connects citizens directly to verified Central &amp; State benefits. It transforms opaque government gazettes into actionable, 1-click application pathways with zero intermediaries.</a:t>
            </a:r>
          </a:p>
          <a:p>
            <a:pPr>
              <a:defRPr sz="1150" b="1">
                <a:solidFill>
                  <a:srgbClr val="BBF7D0"/>
                </a:solidFill>
              </a:defRPr>
            </a:pPr>
            <a:r>
              <a:t>✓ 4 Specialized Tracks: Students, Farmers, Citizens, MSMEs</a:t>
            </a:r>
            <a:br/>
            <a:r>
              <a:t>✓ Real-Time Official Web Crawling (TinyFish Scraper)</a:t>
            </a:r>
            <a:br/>
            <a:r>
              <a:t>✓ Deterministic 7-Pillar Verification &amp; Deadline Filter</a:t>
            </a:r>
            <a:br/>
            <a:r>
              <a:t>✓ Direct Hand-Off to Official .gov.in / .nic.in Portals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530352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1-Click Citizen Eligibility Profiling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Citizens enter basic demographic criteria (State, Category, Education, Income). No Aadhaar upload or sensitive PII is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200400"/>
            <a:ext cx="530352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0B2545"/>
                </a:solidFill>
              </a:defRPr>
            </a:pPr>
            <a:r>
              <a:t>Live Web Grounding &amp; Portal Crawling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Pulls live data from national registries (NSP, MyScheme, State DHE) to catch updated guidelines and active application windows.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754880"/>
            <a:ext cx="530352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5803D"/>
                </a:solidFill>
              </a:defRPr>
            </a:pPr>
            <a:r>
              <a:t>Zero Middlemen Direct Application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Supplies direct official submission links, exact required documentation checklists, and application steps. Middlemen cut to 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AGENTIC AI &amp; SPECIALIZED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Under The Hood: Multi-Agent System (MAS)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40080"/>
          <a:lstStyle/>
          <a:p>
            <a:pPr algn="ctr"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Demographic Intake &amp; Guardrails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Parses natural &amp; structured inputs. Clamps values to human valid bounds. Enforces prompt injection &amp; privacy defenses.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AGENT 1</a:t>
            </a:r>
            <a:br/>
            <a:r>
              <a:t>Intake Specialist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45920"/>
            <a:ext cx="2011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40080"/>
          <a:lstStyle/>
          <a:p>
            <a:pPr algn="ctr"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Live Web Search &amp; Registry Crawl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Executes targeted searches across TinyFish headless scrapers, OpenRouter LLM, and Supabase verified database registers.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45920"/>
            <a:ext cx="2011680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AGENT 2</a:t>
            </a:r>
            <a:br/>
            <a:r>
              <a:t>Discovery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45920"/>
            <a:ext cx="2011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40080"/>
          <a:lstStyle/>
          <a:p>
            <a:pPr algn="ctr"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7-Pillar Verification &amp; Deadlines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Validates official portal authority, eligibility criteria match, benefit authenticity, and actively closed deadline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45920"/>
            <a:ext cx="2011680" cy="5029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AGENT 3</a:t>
            </a:r>
            <a:br/>
            <a:r>
              <a:t>Sentinel Verifier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645920"/>
            <a:ext cx="2011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40080"/>
          <a:lstStyle/>
          <a:p>
            <a:pPr algn="ctr"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Personalized Advisory &amp; Guidance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Generates personalized citizen explanations: Why you qualify, required document checklists, and application tips.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4592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AGENT 4</a:t>
            </a:r>
            <a:br/>
            <a:r>
              <a:t>Citizen 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645920"/>
            <a:ext cx="2011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640080"/>
          <a:lstStyle/>
          <a:p>
            <a:pPr algn="ctr"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Portal Gateway &amp; Anti-Fraud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Drives direct 1-click hand-off to official .gov.in portals. Suppresses scam domains and paid third-party intermediaries.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45920"/>
            <a:ext cx="201168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AGENT 5</a:t>
            </a:r>
            <a:br/>
            <a:r>
              <a:t>Direct Hand-Off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760720"/>
            <a:ext cx="107899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B2545"/>
                </a:solidFill>
              </a:defRPr>
            </a:pPr>
            <a:r>
              <a:t>WHY MULTI-AGENT INSTEAD OF SINGLE PROMPT? Specialized separation of concerns prevents LLM hallucination: Intake isolates privacy, Discovery retrieves fresh web ground truth, Sentinel enforces mathematical verification, and Advisor explains clearly.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TECHNICAL HIGHLIGHTS &amp;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Key Features &amp; Technical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B2545"/>
                </a:solidFill>
              </a:defRPr>
            </a:pPr>
            <a:r>
              <a:t>7-Pillar Rigorous Verification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No fake or unverified scheme is ever presented to citizens. Every candidate must pass: Scheme Identity, Authority Origin (.gov.in), Domicile Alignment, Category Match, Benefit Terms, Deadline Expiry, and Anti-Disinformation.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B2545"/>
                </a:solidFill>
              </a:defRPr>
            </a:pPr>
            <a:r>
              <a:t>Real-Time Deadline &amp; Expiry Engine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Intelligently parses Indian academic and seasonal dates ('31st March 2026', 'Academic Session 2025–26'). Schemes whose application windows have lapsed are automatically filtered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109728" cy="2011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B2545"/>
                </a:solidFill>
              </a:defRPr>
            </a:pPr>
            <a:r>
              <a:t>Privacy &amp; Security by Design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Zero PII stored on remote servers. User profiles are evaluated ephemerally. Demographic bounding clamps prevent business logic exploits and malicious injections.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B2545"/>
                </a:solidFill>
              </a:defRPr>
            </a:pPr>
            <a:r>
              <a:t>High-Performance Hybrid Pipeline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Combines Supabase PostgreSQL verified registry with live web crawler failovers, guaranteeing sub-second response times for cached schemes and deep fallback for obscure state programs.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31920"/>
            <a:ext cx="10972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IMPACT, CURRENT STATUS &amp; 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Scaling Access to Public Welfare for 1.4 Billion Citizens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3108960"/>
          </a:xfrm>
          <a:prstGeom prst="rect">
            <a:avLst/>
          </a:prstGeom>
          <a:solidFill>
            <a:srgbClr val="0F2E55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EA580C"/>
                </a:solidFill>
              </a:defRPr>
            </a:pPr>
            <a:r>
              <a:t>Current MVP State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Live in 3 Major States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Operational today across Uttar Pradesh, Delhi, and Bihar. Full pipeline active for higher education scholarships, farmers (PM-Kisan), and social welfare schemes.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3108960"/>
          </a:xfrm>
          <a:prstGeom prst="rect">
            <a:avLst/>
          </a:prstGeom>
          <a:solidFill>
            <a:srgbClr val="0F2E55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5803D"/>
                </a:solidFill>
              </a:defRPr>
            </a:pPr>
            <a:r>
              <a:t>Phase 2: Multilingual Voice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AI Bharat Voice Agents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Integrating Whisper &amp; Bhashini APIs to support voice conversations in Hindi, Bhojpuri, Maithili, and Bengali for non-literate citizens.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383280" cy="3108960"/>
          </a:xfrm>
          <a:prstGeom prst="rect">
            <a:avLst/>
          </a:prstGeom>
          <a:solidFill>
            <a:srgbClr val="0F2E55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0EA5E9"/>
                </a:solidFill>
              </a:defRPr>
            </a:pPr>
            <a:r>
              <a:t>Phase 3: Digital Public Infra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DigiLocker Integration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Direct 1-click document pre-fill via DigiLocker and automated application status webhooks tracking DBT disbursements.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07182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CONCLUSION &amp; VISION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"YojanaMitra isn't just another search tool; it is an intelligent, honest, and uncorruptible bridge between the citizen and the nation's public treasury. Thank you!"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