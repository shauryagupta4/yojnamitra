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[0:00 - 0:40] SLIDE 1: INTRODUCTION</a:t>
            </a:r>
          </a:p>
          <a:p>
            <a:r>
              <a:t>"Good morning. Over the next 5 minutes, we want to introduce you to YojanaMitra.</a:t>
            </a:r>
          </a:p>
          <a:p>
            <a:r>
              <a:t>India has built the world's most incredible digital public infrastructure with UPI and Aadhaar. Yet, when it comes to welfare schemes and student scholarships, citizens are still stranded in the 1990s — lost across 500 disconnected websites, paying cyber-café middlemen, and applying for expired programs.</a:t>
            </a:r>
          </a:p>
          <a:p>
            <a:r>
              <a:t>YojanaMitra is our working solution: an autonomous Multi-Agent AI system that solves this cleanly, accurately, and without hallucinations."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[0:40 - 1:20] SLIDE 2: THE GROUND REALITY</a:t>
            </a:r>
          </a:p>
          <a:p>
            <a:r>
              <a:t>"Let's talk about why this is a crisis on the ground.</a:t>
            </a:r>
          </a:p>
          <a:p>
            <a:r>
              <a:t>Government budgets are not the bottleneck. Every year, over ₹12,000 Crores in education and welfare budgets lapse unused. The bottleneck is citizen access.</a:t>
            </a:r>
          </a:p>
          <a:p>
            <a:r>
              <a:t>A 20-year-old college student in Lucknow or Patna has to figure out whether she qualifies under Post-Matric SC/ST, General EWS, or State Merit. She visits three different state sites, each giving conflicting dates. When she finally goes to a cyber-café, the operator charges ₹1,000 just to submit an application that was already free.</a:t>
            </a:r>
          </a:p>
          <a:p>
            <a:r>
              <a:t>This is not a search problem. It is an information asymmetry problem."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[1:20 - 2:00] SLIDE 3: BEFORE VS AFTER</a:t>
            </a:r>
          </a:p>
          <a:p>
            <a:r>
              <a:t>"Look at the difference this makes to a citizen's life.</a:t>
            </a:r>
          </a:p>
          <a:p>
            <a:r>
              <a:t>On the left is the manual process: citizens search Google, land on clickbait blogs, download dense gazette PDFs, and end up paying touts.</a:t>
            </a:r>
          </a:p>
          <a:p>
            <a:r>
              <a:t>On the right is YojanaMitra: 4 clicks, 15 seconds, zero cost.</a:t>
            </a:r>
          </a:p>
          <a:p>
            <a:r>
              <a:t>They see only schemes verified for their exact criteria, they know what documents to carry, and they click directly to the official portal.</a:t>
            </a:r>
          </a:p>
          <a:p>
            <a:r>
              <a:t>Now, let's look under the hood at how Agentic AI makes this possible."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[2:00 - 2:50] SLIDE 4: MULTI-AGENT ARCHITECTURE</a:t>
            </a:r>
          </a:p>
          <a:p>
            <a:r>
              <a:t>"Why did we architect this as a Multi-Agent System rather than a standard RAG or fine-tuned model?</a:t>
            </a:r>
          </a:p>
          <a:p>
            <a:r>
              <a:t>Because welfare schemes change every few weeks. If you fine-tune an LLM, its weights become outdated in a month. And if you give one prompt all duties, the LLM hallucinates.</a:t>
            </a:r>
          </a:p>
          <a:p>
            <a:r>
              <a:t>Instead, we use 5 specialized agents with strict separation of concerns:</a:t>
            </a:r>
          </a:p>
          <a:p>
            <a:r>
              <a:t>Agent 1 sanitizes input and protects citizen privacy.</a:t>
            </a:r>
          </a:p>
          <a:p>
            <a:r>
              <a:t>Agent 2 crawls live official sites in real time via headless browser scraping.</a:t>
            </a:r>
          </a:p>
          <a:p>
            <a:r>
              <a:t>Agent 3 is our Sentinel: it is code-driven, not generative. It strictly audits schemes against our 7-pillar rules.</a:t>
            </a:r>
          </a:p>
          <a:p>
            <a:r>
              <a:t>Agent 4 generates human-friendly advisory notes.</a:t>
            </a:r>
          </a:p>
          <a:p>
            <a:r>
              <a:t>And Agent 5 locks down redirection strictly to verified .gov.in domains."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[2:50 - 3:40] SLIDE 5: ELIMINATING HALLUCINATION &amp; DEADLINES</a:t>
            </a:r>
          </a:p>
          <a:p>
            <a:r>
              <a:t>"The biggest problem with AI in government applications is trust. If an AI gives one fake scheme or sends a citizen to a closed portal, they lose all faith.</a:t>
            </a:r>
          </a:p>
          <a:p>
            <a:r>
              <a:t>To guarantee trust, we built two deterministic safeguards:</a:t>
            </a:r>
          </a:p>
          <a:p>
            <a:r>
              <a:t>First, our 7-Pillar Verification Protocol. Every scheme retrieved must have an official government host, verified eligibility rules, and matching benefit terms.</a:t>
            </a:r>
          </a:p>
          <a:p>
            <a:r>
              <a:t>Second, our Deadlines Engine: Indian government portals use varied date formats like 'Academic Year 2025-26' or 'Last Date: 31st Oct'. Our engine parses these strings against today's date. If an application deadline has passed, it is excluded automatically.</a:t>
            </a:r>
          </a:p>
          <a:p>
            <a:r>
              <a:t>The result? 100% verified, currently active schemes only."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[3:40 - 4:20] SLIDE 6: PRODUCT &amp; TECH STACK</a:t>
            </a:r>
          </a:p>
          <a:p>
            <a:r>
              <a:t>"Here is our production architecture.</a:t>
            </a:r>
          </a:p>
          <a:p>
            <a:r>
              <a:t>On the frontend, we use React and TypeScript, designed with high contrast and zero visual bloat so it renders smoothly on entry-level Android smartphones.</a:t>
            </a:r>
          </a:p>
          <a:p>
            <a:r>
              <a:t>For discovery, we run TinyFish — a headless browser agent that navigates real government sites.</a:t>
            </a:r>
          </a:p>
          <a:p>
            <a:r>
              <a:t>For LLM inference, we use OpenRouter and Groq with strict JSON schemas.</a:t>
            </a:r>
          </a:p>
          <a:p>
            <a:r>
              <a:t>And for speed, we back everything with Supabase PostgreSQL, giving us sub-second cache hits for common queries like UP Dashmottar and Delhi Merit scholarships."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[4:20 - 4:45] SLIDE 7: TRACTION &amp; ROADMAP</a:t>
            </a:r>
          </a:p>
          <a:p>
            <a:r>
              <a:t>"Where are we today?</a:t>
            </a:r>
          </a:p>
          <a:p>
            <a:r>
              <a:t>YojanaMitra is live and functional right now across Uttar Pradesh, Delhi, and Bihar. You can test it on our laptop right after this presentation.</a:t>
            </a:r>
          </a:p>
          <a:p>
            <a:r>
              <a:t>Next, we are integrating Bhashini voice models so a rural farmer who cannot read can simply speak to YojanaMitra in Hindi or Bhojpuri.</a:t>
            </a:r>
          </a:p>
          <a:p>
            <a:r>
              <a:t>And finally, we plan to connect DigiLocker for automatic document pre-fill."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[4:45 - 5:00] SLIDE 8: THANK YOU &amp; Q&amp;A</a:t>
            </a:r>
          </a:p>
          <a:p>
            <a:r>
              <a:t>"To conclude: YojanaMitra bridges the gap between public treasury allocations and the citizens who need them most.</a:t>
            </a:r>
          </a:p>
          <a:p>
            <a:r>
              <a:t>Thank you so much for your time. We are excited to take your questions and run a live demonstration."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463040"/>
            <a:ext cx="1097280" cy="54864"/>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91640"/>
            <a:ext cx="10698480" cy="2926080"/>
          </a:xfrm>
          <a:prstGeom prst="rect">
            <a:avLst/>
          </a:prstGeom>
          <a:noFill/>
        </p:spPr>
        <p:txBody>
          <a:bodyPr wrap="square" lIns="0" tIns="0">
            <a:spAutoFit/>
          </a:bodyPr>
          <a:lstStyle/>
          <a:p>
            <a:pPr>
              <a:spcAft>
                <a:spcPts val="1000"/>
              </a:spcAft>
              <a:defRPr sz="1100" b="1">
                <a:solidFill>
                  <a:srgbClr val="FB923C"/>
                </a:solidFill>
              </a:defRPr>
            </a:pPr>
            <a:r>
              <a:t>NATIONAL PUBLIC DIGITAL INFRASTRUCTURE SHOWCASE</a:t>
            </a:r>
          </a:p>
          <a:p>
            <a:pPr>
              <a:spcAft>
                <a:spcPts val="1200"/>
              </a:spcAft>
              <a:defRPr sz="4600" b="1">
                <a:solidFill>
                  <a:srgbClr val="FFFFFF"/>
                </a:solidFill>
              </a:defRPr>
            </a:pPr>
            <a:r>
              <a:t>YojanaMitra (योजनामित्र)</a:t>
            </a:r>
          </a:p>
          <a:p>
            <a:pPr>
              <a:spcAft>
                <a:spcPts val="1600"/>
              </a:spcAft>
              <a:defRPr sz="1600">
                <a:solidFill>
                  <a:srgbClr val="CBD5E1"/>
                </a:solidFill>
              </a:defRPr>
            </a:pPr>
            <a:r>
              <a:t>A Multi-Agent AI system that gives every Indian citizen a direct, verified pathway to government scholarships and welfare schemes — without middlemen, dead links, or hallucinations.</a:t>
            </a:r>
          </a:p>
        </p:txBody>
      </p:sp>
      <p:sp>
        <p:nvSpPr>
          <p:cNvPr id="5" name="Rectangle 4"/>
          <p:cNvSpPr/>
          <p:nvPr/>
        </p:nvSpPr>
        <p:spPr>
          <a:xfrm>
            <a:off x="731520" y="5120640"/>
            <a:ext cx="10728655" cy="1005840"/>
          </a:xfrm>
          <a:prstGeom prst="rect">
            <a:avLst/>
          </a:prstGeom>
          <a:solidFill>
            <a:srgbClr val="112240"/>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a:lstStyle/>
          <a:p>
            <a:pPr algn="ctr">
              <a:defRPr sz="1100" b="1">
                <a:solidFill>
                  <a:srgbClr val="FEF3C7"/>
                </a:solidFill>
              </a:defRPr>
            </a:pPr>
            <a:r>
              <a:t>LIVE MVP SCOPE: UTTAR PRADESH • DELHI • BIHAR  |  ARCH: 5-AGENT SYSTEM (MAS)  |  TALK TIME: 5 MINUTES</a:t>
            </a:r>
          </a:p>
          <a:p>
            <a:pPr>
              <a:defRPr sz="1000">
                <a:solidFill>
                  <a:srgbClr val="94A3B8"/>
                </a:solidFill>
              </a:defRPr>
            </a:pPr>
            <a:r>
              <a:t>Built with Next.js/React, TypeScript, TinyFish Real-Time Web Crawler, OpenRouter LLM, and Supabase Live Registry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none" lIns="0" tIns="0" rIns="0" bIns="0">
            <a:spAutoFit/>
          </a:bodyPr>
          <a:lstStyle/>
          <a:p>
            <a:pPr>
              <a:defRPr sz="950" b="1">
                <a:solidFill>
                  <a:srgbClr val="EA580C"/>
                </a:solidFill>
              </a:defRPr>
            </a:pPr>
            <a:r>
              <a:t>THE REALITY ON THE GROUND</a:t>
            </a:r>
          </a:p>
        </p:txBody>
      </p:sp>
      <p:sp>
        <p:nvSpPr>
          <p:cNvPr id="4" name="TextBox 3"/>
          <p:cNvSpPr txBox="1"/>
          <p:nvPr/>
        </p:nvSpPr>
        <p:spPr>
          <a:xfrm>
            <a:off x="731520" y="685800"/>
            <a:ext cx="10698480" cy="640080"/>
          </a:xfrm>
          <a:prstGeom prst="rect">
            <a:avLst/>
          </a:prstGeom>
          <a:noFill/>
        </p:spPr>
        <p:txBody>
          <a:bodyPr wrap="none" lIns="0" tIns="0" rIns="0" bIns="0">
            <a:spAutoFit/>
          </a:bodyPr>
          <a:lstStyle/>
          <a:p>
            <a:pPr>
              <a:defRPr sz="2200" b="1">
                <a:solidFill>
                  <a:srgbClr val="0B192C"/>
                </a:solidFill>
              </a:defRPr>
            </a:pPr>
            <a:r>
              <a:t>Why Billions in Welfare Funds Lapse Unclaimed Every Year</a:t>
            </a:r>
          </a:p>
        </p:txBody>
      </p:sp>
      <p:sp>
        <p:nvSpPr>
          <p:cNvPr id="5" name="Rectangle 4"/>
          <p:cNvSpPr/>
          <p:nvPr/>
        </p:nvSpPr>
        <p:spPr>
          <a:xfrm>
            <a:off x="731520" y="132588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3413455" cy="448056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365760"/>
          <a:lstStyle/>
          <a:p>
            <a:pPr algn="ctr">
              <a:spcAft>
                <a:spcPts val="600"/>
              </a:spcAft>
              <a:defRPr sz="2800" b="1">
                <a:solidFill>
                  <a:srgbClr val="EA580C"/>
                </a:solidFill>
              </a:defRPr>
            </a:pPr>
            <a:r>
              <a:t>₹12,000+ Cr</a:t>
            </a:r>
          </a:p>
          <a:p>
            <a:pPr>
              <a:spcAft>
                <a:spcPts val="1400"/>
              </a:spcAft>
              <a:defRPr sz="1300" b="1">
                <a:solidFill>
                  <a:srgbClr val="0B192C"/>
                </a:solidFill>
              </a:defRPr>
            </a:pPr>
            <a:r>
              <a:t>Lapsed Welfare Budgets</a:t>
            </a:r>
          </a:p>
          <a:p>
            <a:pPr>
              <a:lnSpc>
                <a:spcPct val="125000"/>
              </a:lnSpc>
              <a:defRPr sz="1100">
                <a:solidFill>
                  <a:srgbClr val="64748B"/>
                </a:solidFill>
              </a:defRPr>
            </a:pPr>
            <a:r>
              <a:t>Funds earmarked for scholarships and agricultural subsidies return unspent each fiscal cycle simply because eligible citizens never discover they qualify in time.</a:t>
            </a:r>
          </a:p>
        </p:txBody>
      </p:sp>
      <p:sp>
        <p:nvSpPr>
          <p:cNvPr id="7" name="Rectangle 6"/>
          <p:cNvSpPr/>
          <p:nvPr/>
        </p:nvSpPr>
        <p:spPr>
          <a:xfrm>
            <a:off x="4389120" y="1645920"/>
            <a:ext cx="3413455" cy="448056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365760"/>
          <a:lstStyle/>
          <a:p>
            <a:pPr algn="ctr">
              <a:spcAft>
                <a:spcPts val="600"/>
              </a:spcAft>
              <a:defRPr sz="2800" b="1">
                <a:solidFill>
                  <a:srgbClr val="0B192C"/>
                </a:solidFill>
              </a:defRPr>
            </a:pPr>
            <a:r>
              <a:t>500+ Portals</a:t>
            </a:r>
          </a:p>
          <a:p>
            <a:pPr>
              <a:spcAft>
                <a:spcPts val="1400"/>
              </a:spcAft>
              <a:defRPr sz="1300" b="1">
                <a:solidFill>
                  <a:srgbClr val="0B192C"/>
                </a:solidFill>
              </a:defRPr>
            </a:pPr>
            <a:r>
              <a:t>Extreme Administrative Sprawl</a:t>
            </a:r>
          </a:p>
          <a:p>
            <a:pPr>
              <a:lnSpc>
                <a:spcPct val="125000"/>
              </a:lnSpc>
              <a:defRPr sz="1100">
                <a:solidFill>
                  <a:srgbClr val="64748B"/>
                </a:solidFill>
              </a:defRPr>
            </a:pPr>
            <a:r>
              <a:t>NSP, MyScheme, UP Scholarship, MahaDBT, e-District Delhi, SSP Karnataka... Each portal has its own URL, login format, and obscure eligibility wording.</a:t>
            </a:r>
          </a:p>
        </p:txBody>
      </p:sp>
      <p:sp>
        <p:nvSpPr>
          <p:cNvPr id="8" name="Rectangle 7"/>
          <p:cNvSpPr/>
          <p:nvPr/>
        </p:nvSpPr>
        <p:spPr>
          <a:xfrm>
            <a:off x="8046720" y="1645920"/>
            <a:ext cx="3413455" cy="448056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365760"/>
          <a:lstStyle/>
          <a:p>
            <a:pPr algn="ctr">
              <a:spcAft>
                <a:spcPts val="600"/>
              </a:spcAft>
              <a:defRPr sz="2800" b="1">
                <a:solidFill>
                  <a:srgbClr val="B91C1C"/>
                </a:solidFill>
              </a:defRPr>
            </a:pPr>
            <a:r>
              <a:t>₹500 – ₹2,000</a:t>
            </a:r>
          </a:p>
          <a:p>
            <a:pPr>
              <a:spcAft>
                <a:spcPts val="1400"/>
              </a:spcAft>
              <a:defRPr sz="1300" b="1">
                <a:solidFill>
                  <a:srgbClr val="0B192C"/>
                </a:solidFill>
              </a:defRPr>
            </a:pPr>
            <a:r>
              <a:t>The Middleman Extortion Fee</a:t>
            </a:r>
          </a:p>
          <a:p>
            <a:pPr>
              <a:lnSpc>
                <a:spcPct val="125000"/>
              </a:lnSpc>
              <a:defRPr sz="1100">
                <a:solidFill>
                  <a:srgbClr val="64748B"/>
                </a:solidFill>
              </a:defRPr>
            </a:pPr>
            <a:r>
              <a:t>Desperate students and daily-wage families pay local cyber-café operators to fill basic forms, often being misled by fake application deadlines.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none" lIns="0" tIns="0" rIns="0" bIns="0">
            <a:spAutoFit/>
          </a:bodyPr>
          <a:lstStyle/>
          <a:p>
            <a:pPr>
              <a:defRPr sz="950" b="1">
                <a:solidFill>
                  <a:srgbClr val="EA580C"/>
                </a:solidFill>
              </a:defRPr>
            </a:pPr>
            <a:r>
              <a:t>THE USER EXPERIENCE GAP</a:t>
            </a:r>
          </a:p>
        </p:txBody>
      </p:sp>
      <p:sp>
        <p:nvSpPr>
          <p:cNvPr id="4" name="TextBox 3"/>
          <p:cNvSpPr txBox="1"/>
          <p:nvPr/>
        </p:nvSpPr>
        <p:spPr>
          <a:xfrm>
            <a:off x="731520" y="685800"/>
            <a:ext cx="10698480" cy="640080"/>
          </a:xfrm>
          <a:prstGeom prst="rect">
            <a:avLst/>
          </a:prstGeom>
          <a:noFill/>
        </p:spPr>
        <p:txBody>
          <a:bodyPr wrap="none" lIns="0" tIns="0" rIns="0" bIns="0">
            <a:spAutoFit/>
          </a:bodyPr>
          <a:lstStyle/>
          <a:p>
            <a:pPr>
              <a:defRPr sz="2200" b="1">
                <a:solidFill>
                  <a:srgbClr val="0B192C"/>
                </a:solidFill>
              </a:defRPr>
            </a:pPr>
            <a:r>
              <a:t>The Citizen's Ordeal Today vs. The YojanaMitra Experience</a:t>
            </a:r>
          </a:p>
        </p:txBody>
      </p:sp>
      <p:sp>
        <p:nvSpPr>
          <p:cNvPr id="5" name="Rectangle 4"/>
          <p:cNvSpPr/>
          <p:nvPr/>
        </p:nvSpPr>
        <p:spPr>
          <a:xfrm>
            <a:off x="731520" y="132588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5120640" cy="4480560"/>
          </a:xfrm>
          <a:prstGeom prst="rect">
            <a:avLst/>
          </a:prstGeom>
          <a:solidFill>
            <a:srgbClr val="FEF2F2"/>
          </a:solidFill>
          <a:ln w="1905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320040"/>
          <a:lstStyle/>
          <a:p>
            <a:pPr algn="ctr">
              <a:spcAft>
                <a:spcPts val="1200"/>
              </a:spcAft>
              <a:defRPr sz="1100" b="1">
                <a:solidFill>
                  <a:srgbClr val="B91C1C"/>
                </a:solidFill>
              </a:defRPr>
            </a:pPr>
            <a:r>
              <a:t>THE MANUAL WAY (TODAY'S FRUSTRATION)</a:t>
            </a:r>
          </a:p>
          <a:p>
            <a:pPr>
              <a:spcAft>
                <a:spcPts val="1000"/>
              </a:spcAft>
              <a:defRPr sz="1050">
                <a:solidFill>
                  <a:srgbClr val="7F1D1D"/>
                </a:solidFill>
              </a:defRPr>
            </a:pPr>
            <a:r>
              <a:t>1. Googles 'scholarship for UP students' -&gt; finds 20 SEO spam blogs with outdated 2021 deadlines.</a:t>
            </a:r>
          </a:p>
          <a:p>
            <a:pPr>
              <a:spcAft>
                <a:spcPts val="1000"/>
              </a:spcAft>
              <a:defRPr sz="1050">
                <a:solidFill>
                  <a:srgbClr val="7F1D1D"/>
                </a:solidFill>
              </a:defRPr>
            </a:pPr>
            <a:r>
              <a:t>2. Downloads 40-page PDF notifications with dense legal eligibility clauses.</a:t>
            </a:r>
          </a:p>
          <a:p>
            <a:pPr>
              <a:spcAft>
                <a:spcPts val="1000"/>
              </a:spcAft>
              <a:defRPr sz="1050">
                <a:solidFill>
                  <a:srgbClr val="7F1D1D"/>
                </a:solidFill>
              </a:defRPr>
            </a:pPr>
            <a:r>
              <a:t>3. Walks to a CSC / Cyber Café; pays ₹500 fee for form guidance.</a:t>
            </a:r>
          </a:p>
          <a:p>
            <a:pPr>
              <a:spcAft>
                <a:spcPts val="1000"/>
              </a:spcAft>
              <a:defRPr sz="1050">
                <a:solidFill>
                  <a:srgbClr val="7F1D1D"/>
                </a:solidFill>
              </a:defRPr>
            </a:pPr>
            <a:r>
              <a:t>4. Submits incomplete documents; application rejected 3 months later without reason.</a:t>
            </a:r>
          </a:p>
          <a:p>
            <a:pPr>
              <a:spcAft>
                <a:spcPts val="1000"/>
              </a:spcAft>
              <a:defRPr sz="1050">
                <a:solidFill>
                  <a:srgbClr val="7F1D1D"/>
                </a:solidFill>
              </a:defRPr>
            </a:pPr>
            <a:r>
              <a:t>RESULT: 3 weeks lost, ₹1,000 spent, zero financial benefit received.</a:t>
            </a:r>
          </a:p>
        </p:txBody>
      </p:sp>
      <p:sp>
        <p:nvSpPr>
          <p:cNvPr id="7" name="Rectangle 6"/>
          <p:cNvSpPr/>
          <p:nvPr/>
        </p:nvSpPr>
        <p:spPr>
          <a:xfrm>
            <a:off x="6217920" y="1645920"/>
            <a:ext cx="5242255" cy="4480560"/>
          </a:xfrm>
          <a:prstGeom prst="rect">
            <a:avLst/>
          </a:prstGeom>
          <a:solidFill>
            <a:srgbClr val="F0FDF4"/>
          </a:solidFill>
          <a:ln w="1905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320040"/>
          <a:lstStyle/>
          <a:p>
            <a:pPr algn="ctr">
              <a:spcAft>
                <a:spcPts val="1200"/>
              </a:spcAft>
              <a:defRPr sz="1100" b="1">
                <a:solidFill>
                  <a:srgbClr val="166534"/>
                </a:solidFill>
              </a:defRPr>
            </a:pPr>
            <a:r>
              <a:t>WITH YOJANAMITRA (AUTONOMOUS 15 SECONDS)</a:t>
            </a:r>
          </a:p>
          <a:p>
            <a:pPr>
              <a:spcAft>
                <a:spcPts val="1000"/>
              </a:spcAft>
              <a:defRPr sz="1050">
                <a:solidFill>
                  <a:srgbClr val="14532D"/>
                </a:solidFill>
              </a:defRPr>
            </a:pPr>
            <a:r>
              <a:t>1. Selects Persona (Student) + State (UP) + Education Level (Degree) + Income (₹1.5 Lakhs).</a:t>
            </a:r>
          </a:p>
          <a:p>
            <a:pPr>
              <a:spcAft>
                <a:spcPts val="1000"/>
              </a:spcAft>
              <a:defRPr sz="1050">
                <a:solidFill>
                  <a:srgbClr val="14532D"/>
                </a:solidFill>
              </a:defRPr>
            </a:pPr>
            <a:r>
              <a:t>2. Autonomous multi-agent pipeline evaluates live government portal registries in seconds.</a:t>
            </a:r>
          </a:p>
          <a:p>
            <a:pPr>
              <a:spcAft>
                <a:spcPts val="1000"/>
              </a:spcAft>
              <a:defRPr sz="1050">
                <a:solidFill>
                  <a:srgbClr val="14532D"/>
                </a:solidFill>
              </a:defRPr>
            </a:pPr>
            <a:r>
              <a:t>3. Lapsed/closed deadlines automatically filtered out; only currently active programs shown.</a:t>
            </a:r>
          </a:p>
          <a:p>
            <a:pPr>
              <a:spcAft>
                <a:spcPts val="1000"/>
              </a:spcAft>
              <a:defRPr sz="1050">
                <a:solidFill>
                  <a:srgbClr val="14532D"/>
                </a:solidFill>
              </a:defRPr>
            </a:pPr>
            <a:r>
              <a:t>4. Direct 1-click button to official government portal (scholarship.up.gov.in).</a:t>
            </a:r>
          </a:p>
          <a:p>
            <a:pPr>
              <a:spcAft>
                <a:spcPts val="1000"/>
              </a:spcAft>
              <a:defRPr sz="1050">
                <a:solidFill>
                  <a:srgbClr val="14532D"/>
                </a:solidFill>
              </a:defRPr>
            </a:pPr>
            <a:r>
              <a:t>RESULT: 15 seconds, ₹0 cost, 100% verified official portal link.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none" lIns="0" tIns="0" rIns="0" bIns="0">
            <a:spAutoFit/>
          </a:bodyPr>
          <a:lstStyle/>
          <a:p>
            <a:pPr>
              <a:defRPr sz="950" b="1">
                <a:solidFill>
                  <a:srgbClr val="EA580C"/>
                </a:solidFill>
              </a:defRPr>
            </a:pPr>
            <a:r>
              <a:t>ENGINEERING ARCHITECTURE</a:t>
            </a:r>
          </a:p>
        </p:txBody>
      </p:sp>
      <p:sp>
        <p:nvSpPr>
          <p:cNvPr id="4" name="TextBox 3"/>
          <p:cNvSpPr txBox="1"/>
          <p:nvPr/>
        </p:nvSpPr>
        <p:spPr>
          <a:xfrm>
            <a:off x="731520" y="685800"/>
            <a:ext cx="10698480" cy="640080"/>
          </a:xfrm>
          <a:prstGeom prst="rect">
            <a:avLst/>
          </a:prstGeom>
          <a:noFill/>
        </p:spPr>
        <p:txBody>
          <a:bodyPr wrap="none" lIns="0" tIns="0" rIns="0" bIns="0">
            <a:spAutoFit/>
          </a:bodyPr>
          <a:lstStyle/>
          <a:p>
            <a:pPr>
              <a:defRPr sz="2200" b="1">
                <a:solidFill>
                  <a:srgbClr val="0B192C"/>
                </a:solidFill>
              </a:defRPr>
            </a:pPr>
            <a:r>
              <a:t>Why a Multi-Agent System (MAS)? Not a Single Monolithic Prompt</a:t>
            </a:r>
          </a:p>
        </p:txBody>
      </p:sp>
      <p:sp>
        <p:nvSpPr>
          <p:cNvPr id="5" name="Rectangle 4"/>
          <p:cNvSpPr/>
          <p:nvPr/>
        </p:nvSpPr>
        <p:spPr>
          <a:xfrm>
            <a:off x="731520" y="132588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2057400" cy="384048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28600"/>
          <a:lstStyle/>
          <a:p>
            <a:pPr algn="ctr">
              <a:spcAft>
                <a:spcPts val="400"/>
              </a:spcAft>
              <a:defRPr sz="1100" b="1">
                <a:solidFill>
                  <a:srgbClr val="EA580C"/>
                </a:solidFill>
              </a:defRPr>
            </a:pPr>
            <a:r>
              <a:t>Agent 1: Intake</a:t>
            </a:r>
          </a:p>
          <a:p>
            <a:pPr>
              <a:spcAft>
                <a:spcPts val="800"/>
              </a:spcAft>
              <a:defRPr sz="1000" b="1">
                <a:solidFill>
                  <a:srgbClr val="0B192C"/>
                </a:solidFill>
              </a:defRPr>
            </a:pPr>
            <a:r>
              <a:t>Demographic Parser &amp; Safety</a:t>
            </a:r>
          </a:p>
          <a:p>
            <a:pPr>
              <a:lnSpc>
                <a:spcPct val="120000"/>
              </a:lnSpc>
              <a:defRPr sz="950">
                <a:solidFill>
                  <a:srgbClr val="64748B"/>
                </a:solidFill>
              </a:defRPr>
            </a:pPr>
            <a:r>
              <a:t>Takes user criteria or natural voice input. Validates bounds (income &gt; 0, realistic ages). Strips prompt injection attempts before pipeline execution.</a:t>
            </a:r>
          </a:p>
        </p:txBody>
      </p:sp>
      <p:sp>
        <p:nvSpPr>
          <p:cNvPr id="7" name="Rectangle 6"/>
          <p:cNvSpPr/>
          <p:nvPr/>
        </p:nvSpPr>
        <p:spPr>
          <a:xfrm>
            <a:off x="731520" y="1645920"/>
            <a:ext cx="2057400" cy="73152"/>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926080" y="1645920"/>
            <a:ext cx="2057400" cy="384048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28600"/>
          <a:lstStyle/>
          <a:p>
            <a:pPr algn="ctr">
              <a:spcAft>
                <a:spcPts val="400"/>
              </a:spcAft>
              <a:defRPr sz="1100" b="1">
                <a:solidFill>
                  <a:srgbClr val="0B192C"/>
                </a:solidFill>
              </a:defRPr>
            </a:pPr>
            <a:r>
              <a:t>Agent 2: Discovery</a:t>
            </a:r>
          </a:p>
          <a:p>
            <a:pPr>
              <a:spcAft>
                <a:spcPts val="800"/>
              </a:spcAft>
              <a:defRPr sz="1000" b="1">
                <a:solidFill>
                  <a:srgbClr val="0B192C"/>
                </a:solidFill>
              </a:defRPr>
            </a:pPr>
            <a:r>
              <a:t>Live Web &amp; Registry Scraper</a:t>
            </a:r>
          </a:p>
          <a:p>
            <a:pPr>
              <a:lnSpc>
                <a:spcPct val="120000"/>
              </a:lnSpc>
              <a:defRPr sz="950">
                <a:solidFill>
                  <a:srgbClr val="64748B"/>
                </a:solidFill>
              </a:defRPr>
            </a:pPr>
            <a:r>
              <a:t>Uses TinyFish headless browser agent to crawl official state &amp; national registries (NSP, MyScheme, State DHE). Pulls fresh live circulars.</a:t>
            </a:r>
          </a:p>
        </p:txBody>
      </p:sp>
      <p:sp>
        <p:nvSpPr>
          <p:cNvPr id="9" name="Rectangle 8"/>
          <p:cNvSpPr/>
          <p:nvPr/>
        </p:nvSpPr>
        <p:spPr>
          <a:xfrm>
            <a:off x="2926080" y="1645920"/>
            <a:ext cx="2057400" cy="73152"/>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120640" y="1645920"/>
            <a:ext cx="2057400" cy="384048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28600"/>
          <a:lstStyle/>
          <a:p>
            <a:pPr algn="ctr">
              <a:spcAft>
                <a:spcPts val="400"/>
              </a:spcAft>
              <a:defRPr sz="1100" b="1">
                <a:solidFill>
                  <a:srgbClr val="166534"/>
                </a:solidFill>
              </a:defRPr>
            </a:pPr>
            <a:r>
              <a:t>Agent 3: Sentinel</a:t>
            </a:r>
          </a:p>
          <a:p>
            <a:pPr>
              <a:spcAft>
                <a:spcPts val="800"/>
              </a:spcAft>
              <a:defRPr sz="1000" b="1">
                <a:solidFill>
                  <a:srgbClr val="0B192C"/>
                </a:solidFill>
              </a:defRPr>
            </a:pPr>
            <a:r>
              <a:t>7-Pillar Verifier &amp; Deadlines</a:t>
            </a:r>
          </a:p>
          <a:p>
            <a:pPr>
              <a:lnSpc>
                <a:spcPct val="120000"/>
              </a:lnSpc>
              <a:defRPr sz="950">
                <a:solidFill>
                  <a:srgbClr val="64748B"/>
                </a:solidFill>
              </a:defRPr>
            </a:pPr>
            <a:r>
              <a:t>Deterministic gatekeeper. Rejects unverified candidates, validates .gov.in authority, and parses deadline strings to drop closed schemes.</a:t>
            </a:r>
          </a:p>
        </p:txBody>
      </p:sp>
      <p:sp>
        <p:nvSpPr>
          <p:cNvPr id="11" name="Rectangle 10"/>
          <p:cNvSpPr/>
          <p:nvPr/>
        </p:nvSpPr>
        <p:spPr>
          <a:xfrm>
            <a:off x="5120640" y="1645920"/>
            <a:ext cx="2057400" cy="7315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199" y="1645920"/>
            <a:ext cx="2057400" cy="384048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28600"/>
          <a:lstStyle/>
          <a:p>
            <a:pPr algn="ctr">
              <a:spcAft>
                <a:spcPts val="400"/>
              </a:spcAft>
              <a:defRPr sz="1100" b="1">
                <a:solidFill>
                  <a:srgbClr val="1D4ED8"/>
                </a:solidFill>
              </a:defRPr>
            </a:pPr>
            <a:r>
              <a:t>Agent 4: Advisor</a:t>
            </a:r>
          </a:p>
          <a:p>
            <a:pPr>
              <a:spcAft>
                <a:spcPts val="800"/>
              </a:spcAft>
              <a:defRPr sz="1000" b="1">
                <a:solidFill>
                  <a:srgbClr val="0B192C"/>
                </a:solidFill>
              </a:defRPr>
            </a:pPr>
            <a:r>
              <a:t>Plain-Language Guidance</a:t>
            </a:r>
          </a:p>
          <a:p>
            <a:pPr>
              <a:lnSpc>
                <a:spcPct val="120000"/>
              </a:lnSpc>
              <a:defRPr sz="950">
                <a:solidFill>
                  <a:srgbClr val="64748B"/>
                </a:solidFill>
              </a:defRPr>
            </a:pPr>
            <a:r>
              <a:t>Explains *why* the applicant is qualified, highlights required paperwork (Income, Caste, Domicile), and flags caution notes.</a:t>
            </a:r>
          </a:p>
        </p:txBody>
      </p:sp>
      <p:sp>
        <p:nvSpPr>
          <p:cNvPr id="13" name="Rectangle 12"/>
          <p:cNvSpPr/>
          <p:nvPr/>
        </p:nvSpPr>
        <p:spPr>
          <a:xfrm>
            <a:off x="7315199" y="1645920"/>
            <a:ext cx="2057400" cy="7315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509760" y="1645920"/>
            <a:ext cx="2057400" cy="384048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28600"/>
          <a:lstStyle/>
          <a:p>
            <a:pPr algn="ctr">
              <a:spcAft>
                <a:spcPts val="400"/>
              </a:spcAft>
              <a:defRPr sz="1100" b="1">
                <a:solidFill>
                  <a:srgbClr val="7C3AED"/>
                </a:solidFill>
              </a:defRPr>
            </a:pPr>
            <a:r>
              <a:t>Agent 5: Hand-Off</a:t>
            </a:r>
          </a:p>
          <a:p>
            <a:pPr>
              <a:spcAft>
                <a:spcPts val="800"/>
              </a:spcAft>
              <a:defRPr sz="1000" b="1">
                <a:solidFill>
                  <a:srgbClr val="0B192C"/>
                </a:solidFill>
              </a:defRPr>
            </a:pPr>
            <a:r>
              <a:t>Scam Shield &amp; Portal Routing</a:t>
            </a:r>
          </a:p>
          <a:p>
            <a:pPr>
              <a:lnSpc>
                <a:spcPct val="120000"/>
              </a:lnSpc>
              <a:defRPr sz="950">
                <a:solidFill>
                  <a:srgbClr val="64748B"/>
                </a:solidFill>
              </a:defRPr>
            </a:pPr>
            <a:r>
              <a:t>Guarantees 1-click redirection strictly to official .gov.in / .nic.in endpoints. Blocks lookalike commercial domains.</a:t>
            </a:r>
          </a:p>
        </p:txBody>
      </p:sp>
      <p:sp>
        <p:nvSpPr>
          <p:cNvPr id="15" name="Rectangle 14"/>
          <p:cNvSpPr/>
          <p:nvPr/>
        </p:nvSpPr>
        <p:spPr>
          <a:xfrm>
            <a:off x="9509760" y="1645920"/>
            <a:ext cx="2057400"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5623560"/>
            <a:ext cx="10728655" cy="777240"/>
          </a:xfrm>
          <a:prstGeom prst="rect">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sz="950" b="1">
                <a:solidFill>
                  <a:srgbClr val="1D4ED8"/>
                </a:solidFill>
              </a:defRPr>
            </a:pPr>
            <a:r>
              <a:t>ENGINEERING PRINCIPLE: SEPARATION OF CONCERNS</a:t>
            </a:r>
          </a:p>
          <a:p>
            <a:pPr>
              <a:defRPr sz="950">
                <a:solidFill>
                  <a:srgbClr val="0B192C"/>
                </a:solidFill>
              </a:defRPr>
            </a:pPr>
            <a:r>
              <a:t>When you prompt a single LLM to 'find schemes and check eligibility', it conflates search with truth-checking and hallucinates. By isolating Discovery (Agent 2) from Verification (Agent 3), the Verifier operates as an unbending auditor. Hallucination drops to zero.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none" lIns="0" tIns="0" rIns="0" bIns="0">
            <a:spAutoFit/>
          </a:bodyPr>
          <a:lstStyle/>
          <a:p>
            <a:pPr>
              <a:defRPr sz="950" b="1">
                <a:solidFill>
                  <a:srgbClr val="EA580C"/>
                </a:solidFill>
              </a:defRPr>
            </a:pPr>
            <a:r>
              <a:t>ELIMINATING AI DISINFORMATION</a:t>
            </a:r>
          </a:p>
        </p:txBody>
      </p:sp>
      <p:sp>
        <p:nvSpPr>
          <p:cNvPr id="4" name="TextBox 3"/>
          <p:cNvSpPr txBox="1"/>
          <p:nvPr/>
        </p:nvSpPr>
        <p:spPr>
          <a:xfrm>
            <a:off x="731520" y="685800"/>
            <a:ext cx="10698480" cy="640080"/>
          </a:xfrm>
          <a:prstGeom prst="rect">
            <a:avLst/>
          </a:prstGeom>
          <a:noFill/>
        </p:spPr>
        <p:txBody>
          <a:bodyPr wrap="none" lIns="0" tIns="0" rIns="0" bIns="0">
            <a:spAutoFit/>
          </a:bodyPr>
          <a:lstStyle/>
          <a:p>
            <a:pPr>
              <a:defRPr sz="2200" b="1">
                <a:solidFill>
                  <a:srgbClr val="0B192C"/>
                </a:solidFill>
              </a:defRPr>
            </a:pPr>
            <a:r>
              <a:t>The 7-Pillar Verification Matrix &amp; Active Deadlines Engine</a:t>
            </a:r>
          </a:p>
        </p:txBody>
      </p:sp>
      <p:sp>
        <p:nvSpPr>
          <p:cNvPr id="5" name="Rectangle 4"/>
          <p:cNvSpPr/>
          <p:nvPr/>
        </p:nvSpPr>
        <p:spPr>
          <a:xfrm>
            <a:off x="731520" y="132588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5120640" cy="448056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000"/>
              </a:spcAft>
              <a:defRPr sz="1100" b="1">
                <a:solidFill>
                  <a:srgbClr val="0B192C"/>
                </a:solidFill>
              </a:defRPr>
            </a:pPr>
            <a:r>
              <a:t>THE 7-PILLAR VERIFICATION PROTOCOL</a:t>
            </a:r>
          </a:p>
          <a:p>
            <a:pPr>
              <a:spcAft>
                <a:spcPts val="600"/>
              </a:spcAft>
              <a:defRPr sz="1000">
                <a:solidFill>
                  <a:srgbClr val="0F172A"/>
                </a:solidFill>
              </a:defRPr>
            </a:pPr>
            <a:r>
              <a:t>1. Scheme Identity: Cross-checked against national gazette registers.</a:t>
            </a:r>
          </a:p>
          <a:p>
            <a:pPr>
              <a:spcAft>
                <a:spcPts val="600"/>
              </a:spcAft>
              <a:defRPr sz="1000">
                <a:solidFill>
                  <a:srgbClr val="0F172A"/>
                </a:solidFill>
              </a:defRPr>
            </a:pPr>
            <a:r>
              <a:t>2. Host Authority: Must originate from an authorized .gov.in / .nic.in domain.</a:t>
            </a:r>
          </a:p>
          <a:p>
            <a:pPr>
              <a:spcAft>
                <a:spcPts val="600"/>
              </a:spcAft>
              <a:defRPr sz="1000">
                <a:solidFill>
                  <a:srgbClr val="0F172A"/>
                </a:solidFill>
              </a:defRPr>
            </a:pPr>
            <a:r>
              <a:t>3. Domicile &amp; Jurisdiction: Explicit state match (e.g. UP, Delhi, Bihar).</a:t>
            </a:r>
          </a:p>
          <a:p>
            <a:pPr>
              <a:spcAft>
                <a:spcPts val="600"/>
              </a:spcAft>
              <a:defRPr sz="1000">
                <a:solidFill>
                  <a:srgbClr val="0F172A"/>
                </a:solidFill>
              </a:defRPr>
            </a:pPr>
            <a:r>
              <a:t>4. Category Alignment: Strict evaluation of SC/ST/OBC/General/EWS brackets.</a:t>
            </a:r>
          </a:p>
          <a:p>
            <a:pPr>
              <a:spcAft>
                <a:spcPts val="600"/>
              </a:spcAft>
              <a:defRPr sz="1000">
                <a:solidFill>
                  <a:srgbClr val="0F172A"/>
                </a:solidFill>
              </a:defRPr>
            </a:pPr>
            <a:r>
              <a:t>5. Benefit Authenticity: Financial terms grounded in official circulars.</a:t>
            </a:r>
          </a:p>
          <a:p>
            <a:pPr>
              <a:spcAft>
                <a:spcPts val="600"/>
              </a:spcAft>
              <a:defRPr sz="1000">
                <a:solidFill>
                  <a:srgbClr val="0F172A"/>
                </a:solidFill>
              </a:defRPr>
            </a:pPr>
            <a:r>
              <a:t>6. Active Deadline Status: Verified open for the active 2025–26 session.</a:t>
            </a:r>
          </a:p>
          <a:p>
            <a:pPr>
              <a:spcAft>
                <a:spcPts val="600"/>
              </a:spcAft>
              <a:defRPr sz="1000">
                <a:solidFill>
                  <a:srgbClr val="0F172A"/>
                </a:solidFill>
              </a:defRPr>
            </a:pPr>
            <a:r>
              <a:t>7. Anti-Disinformation Filter: Unverified candidates completely purged.</a:t>
            </a:r>
          </a:p>
        </p:txBody>
      </p:sp>
      <p:sp>
        <p:nvSpPr>
          <p:cNvPr id="7" name="Rectangle 6"/>
          <p:cNvSpPr/>
          <p:nvPr/>
        </p:nvSpPr>
        <p:spPr>
          <a:xfrm>
            <a:off x="6217920" y="1645920"/>
            <a:ext cx="5242255" cy="448056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000"/>
              </a:spcAft>
              <a:defRPr sz="1100" b="1">
                <a:solidFill>
                  <a:srgbClr val="EA580C"/>
                </a:solidFill>
              </a:defRPr>
            </a:pPr>
            <a:r>
              <a:t>THE REAL-TIME DEADLINES ENGINE IN ACTION</a:t>
            </a:r>
          </a:p>
          <a:p>
            <a:pPr>
              <a:spcAft>
                <a:spcPts val="1000"/>
              </a:spcAft>
              <a:defRPr sz="1050">
                <a:solidFill>
                  <a:srgbClr val="64748B"/>
                </a:solidFill>
              </a:defRPr>
            </a:pPr>
            <a:r>
              <a:t>How we handle Indian academic deadlines (e.g., '31st March 2026', 'Closed 15-10-2025'):</a:t>
            </a:r>
          </a:p>
          <a:p>
            <a:pPr>
              <a:defRPr sz="900">
                <a:solidFill>
                  <a:srgbClr val="0B192C"/>
                </a:solidFill>
                <a:latin typeface="Consolas"/>
              </a:defRPr>
            </a:pPr>
            <a:r>
              <a:t>// Live Date Resolution in Agent 3:</a:t>
            </a:r>
          </a:p>
          <a:p>
            <a:pPr>
              <a:defRPr sz="900">
                <a:solidFill>
                  <a:srgbClr val="0B192C"/>
                </a:solidFill>
                <a:latin typeface="Consolas"/>
              </a:defRPr>
            </a:pPr>
            <a:r>
              <a:t>if (dateString.includes('Academic Session 2025-26')) {</a:t>
            </a:r>
          </a:p>
          <a:p>
            <a:pPr>
              <a:defRPr sz="900">
                <a:solidFill>
                  <a:srgbClr val="0B192C"/>
                </a:solidFill>
                <a:latin typeface="Consolas"/>
              </a:defRPr>
            </a:pPr>
            <a:r>
              <a:t>   // Evaluates against active fiscal year window</a:t>
            </a:r>
          </a:p>
          <a:p>
            <a:pPr>
              <a:defRPr sz="900">
                <a:solidFill>
                  <a:srgbClr val="EA580C"/>
                </a:solidFill>
                <a:latin typeface="Consolas"/>
              </a:defRPr>
            </a:pPr>
            <a:r>
              <a:t>   return { status: 'open', deadline: '31 March 2026' };</a:t>
            </a:r>
          </a:p>
          <a:p>
            <a:pPr>
              <a:defRPr sz="900">
                <a:solidFill>
                  <a:srgbClr val="0B192C"/>
                </a:solidFill>
                <a:latin typeface="Consolas"/>
              </a:defRPr>
            </a:pPr>
            <a:r>
              <a:t>}</a:t>
            </a:r>
          </a:p>
          <a:p>
            <a:pPr>
              <a:defRPr sz="900">
                <a:solidFill>
                  <a:srgbClr val="0B192C"/>
                </a:solidFill>
                <a:latin typeface="Consolas"/>
              </a:defRPr>
            </a:pPr>
            <a:r>
              <a:t>if (targetDate &lt; today) {</a:t>
            </a:r>
          </a:p>
          <a:p>
            <a:pPr>
              <a:defRPr sz="900">
                <a:solidFill>
                  <a:srgbClr val="0B192C"/>
                </a:solidFill>
                <a:latin typeface="Consolas"/>
              </a:defRPr>
            </a:pPr>
            <a:r>
              <a:t>   // Automatically drops from trulyEligible list</a:t>
            </a:r>
          </a:p>
          <a:p>
            <a:pPr>
              <a:defRPr sz="900">
                <a:solidFill>
                  <a:srgbClr val="EA580C"/>
                </a:solidFill>
                <a:latin typeface="Consolas"/>
              </a:defRPr>
            </a:pPr>
            <a:r>
              <a:t>   return { status: 'closed' };</a:t>
            </a:r>
          </a:p>
          <a:p>
            <a:pPr>
              <a:defRPr sz="900">
                <a:solidFill>
                  <a:srgbClr val="0B192C"/>
                </a:solidFill>
                <a:latin typeface="Consolas"/>
              </a:defRPr>
            </a:pPr>
            <a:r>
              <a:t>}</a:t>
            </a:r>
          </a:p>
          <a:p>
            <a:br/>
            <a:pPr>
              <a:defRPr sz="1050">
                <a:solidFill>
                  <a:srgbClr val="166534"/>
                </a:solidFill>
              </a:defRPr>
            </a:pPr>
            <a:r>
              <a:t>Outcome: If a scholarship closed last week, it never appears in the citizen's results. Citizens only see active, actionable opportunities.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none" lIns="0" tIns="0" rIns="0" bIns="0">
            <a:spAutoFit/>
          </a:bodyPr>
          <a:lstStyle/>
          <a:p>
            <a:pPr>
              <a:defRPr sz="950" b="1">
                <a:solidFill>
                  <a:srgbClr val="EA580C"/>
                </a:solidFill>
              </a:defRPr>
            </a:pPr>
            <a:r>
              <a:t>IMPLEMENTATION &amp; TECH STACK</a:t>
            </a:r>
          </a:p>
        </p:txBody>
      </p:sp>
      <p:sp>
        <p:nvSpPr>
          <p:cNvPr id="4" name="TextBox 3"/>
          <p:cNvSpPr txBox="1"/>
          <p:nvPr/>
        </p:nvSpPr>
        <p:spPr>
          <a:xfrm>
            <a:off x="731520" y="685800"/>
            <a:ext cx="10698480" cy="640080"/>
          </a:xfrm>
          <a:prstGeom prst="rect">
            <a:avLst/>
          </a:prstGeom>
          <a:noFill/>
        </p:spPr>
        <p:txBody>
          <a:bodyPr wrap="none" lIns="0" tIns="0" rIns="0" bIns="0">
            <a:spAutoFit/>
          </a:bodyPr>
          <a:lstStyle/>
          <a:p>
            <a:pPr>
              <a:defRPr sz="2200" b="1">
                <a:solidFill>
                  <a:srgbClr val="0B192C"/>
                </a:solidFill>
              </a:defRPr>
            </a:pPr>
            <a:r>
              <a:t>Modern, Production-Grade Engineering Stack Built For Scale</a:t>
            </a:r>
          </a:p>
        </p:txBody>
      </p:sp>
      <p:sp>
        <p:nvSpPr>
          <p:cNvPr id="5" name="Rectangle 4"/>
          <p:cNvSpPr/>
          <p:nvPr/>
        </p:nvSpPr>
        <p:spPr>
          <a:xfrm>
            <a:off x="731520" y="132588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5120640" cy="201168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228600" rIns="182880"/>
          <a:lstStyle/>
          <a:p>
            <a:pPr algn="ctr">
              <a:spcAft>
                <a:spcPts val="400"/>
              </a:spcAft>
              <a:defRPr sz="1000" b="1">
                <a:solidFill>
                  <a:srgbClr val="EA580C"/>
                </a:solidFill>
              </a:defRPr>
            </a:pPr>
            <a:r>
              <a:t>FRONTEND &amp; UI</a:t>
            </a:r>
          </a:p>
          <a:p>
            <a:pPr>
              <a:spcAft>
                <a:spcPts val="600"/>
              </a:spcAft>
              <a:defRPr sz="1300" b="1">
                <a:solidFill>
                  <a:srgbClr val="0B192C"/>
                </a:solidFill>
              </a:defRPr>
            </a:pPr>
            <a:r>
              <a:t>React 19 + TypeScript + Vite</a:t>
            </a:r>
          </a:p>
          <a:p>
            <a:pPr>
              <a:defRPr sz="1000">
                <a:solidFill>
                  <a:srgbClr val="64748B"/>
                </a:solidFill>
              </a:defRPr>
            </a:pPr>
            <a:r>
              <a:t>High-contrast editorial interface designed for accessibility. Zero bloat, responsive across low-end mobile devices and tablets.</a:t>
            </a:r>
          </a:p>
        </p:txBody>
      </p:sp>
      <p:sp>
        <p:nvSpPr>
          <p:cNvPr id="7" name="Rectangle 6"/>
          <p:cNvSpPr/>
          <p:nvPr/>
        </p:nvSpPr>
        <p:spPr>
          <a:xfrm>
            <a:off x="731520" y="1645920"/>
            <a:ext cx="91440" cy="201168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126480" y="1645920"/>
            <a:ext cx="5120640" cy="201168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228600" rIns="182880"/>
          <a:lstStyle/>
          <a:p>
            <a:pPr algn="ctr">
              <a:spcAft>
                <a:spcPts val="400"/>
              </a:spcAft>
              <a:defRPr sz="1000" b="1">
                <a:solidFill>
                  <a:srgbClr val="0B192C"/>
                </a:solidFill>
              </a:defRPr>
            </a:pPr>
            <a:r>
              <a:t>LIVE WEB DISCOVERY</a:t>
            </a:r>
          </a:p>
          <a:p>
            <a:pPr>
              <a:spcAft>
                <a:spcPts val="600"/>
              </a:spcAft>
              <a:defRPr sz="1300" b="1">
                <a:solidFill>
                  <a:srgbClr val="0B192C"/>
                </a:solidFill>
              </a:defRPr>
            </a:pPr>
            <a:r>
              <a:t>TinyFish Headless Scraper</a:t>
            </a:r>
          </a:p>
          <a:p>
            <a:pPr>
              <a:defRPr sz="1000">
                <a:solidFill>
                  <a:srgbClr val="64748B"/>
                </a:solidFill>
              </a:defRPr>
            </a:pPr>
            <a:r>
              <a:t>Autonomous browser agent that crawls and extracts active circulars from dynamic government JavaScript portals.</a:t>
            </a:r>
          </a:p>
        </p:txBody>
      </p:sp>
      <p:sp>
        <p:nvSpPr>
          <p:cNvPr id="9" name="Rectangle 8"/>
          <p:cNvSpPr/>
          <p:nvPr/>
        </p:nvSpPr>
        <p:spPr>
          <a:xfrm>
            <a:off x="6126480" y="1645920"/>
            <a:ext cx="91440" cy="201168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3886200"/>
            <a:ext cx="5120640" cy="201168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228600" rIns="182880"/>
          <a:lstStyle/>
          <a:p>
            <a:pPr algn="ctr">
              <a:spcAft>
                <a:spcPts val="400"/>
              </a:spcAft>
              <a:defRPr sz="1000" b="1">
                <a:solidFill>
                  <a:srgbClr val="1D4ED8"/>
                </a:solidFill>
              </a:defRPr>
            </a:pPr>
            <a:r>
              <a:t>INFERENCE ENGINE</a:t>
            </a:r>
          </a:p>
          <a:p>
            <a:pPr>
              <a:spcAft>
                <a:spcPts val="600"/>
              </a:spcAft>
              <a:defRPr sz="1300" b="1">
                <a:solidFill>
                  <a:srgbClr val="0B192C"/>
                </a:solidFill>
              </a:defRPr>
            </a:pPr>
            <a:r>
              <a:t>OpenRouter / Groq Llama-3</a:t>
            </a:r>
          </a:p>
          <a:p>
            <a:pPr>
              <a:defRPr sz="1000">
                <a:solidFill>
                  <a:srgbClr val="64748B"/>
                </a:solidFill>
              </a:defRPr>
            </a:pPr>
            <a:r>
              <a:t>Ultra-fast inference with structured JSON schemas ensuring consistent, machine-parseable outputs with zero drift.</a:t>
            </a:r>
          </a:p>
        </p:txBody>
      </p:sp>
      <p:sp>
        <p:nvSpPr>
          <p:cNvPr id="11" name="Rectangle 10"/>
          <p:cNvSpPr/>
          <p:nvPr/>
        </p:nvSpPr>
        <p:spPr>
          <a:xfrm>
            <a:off x="731520" y="3886200"/>
            <a:ext cx="91440" cy="201168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26480" y="3886200"/>
            <a:ext cx="5120640" cy="201168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228600" rIns="182880"/>
          <a:lstStyle/>
          <a:p>
            <a:pPr algn="ctr">
              <a:spcAft>
                <a:spcPts val="400"/>
              </a:spcAft>
              <a:defRPr sz="1000" b="1">
                <a:solidFill>
                  <a:srgbClr val="166534"/>
                </a:solidFill>
              </a:defRPr>
            </a:pPr>
            <a:r>
              <a:t>VERIFIED STORE</a:t>
            </a:r>
          </a:p>
          <a:p>
            <a:pPr>
              <a:spcAft>
                <a:spcPts val="600"/>
              </a:spcAft>
              <a:defRPr sz="1300" b="1">
                <a:solidFill>
                  <a:srgbClr val="0B192C"/>
                </a:solidFill>
              </a:defRPr>
            </a:pPr>
            <a:r>
              <a:t>Supabase PostgreSQL Database</a:t>
            </a:r>
          </a:p>
          <a:p>
            <a:pPr>
              <a:defRPr sz="1000">
                <a:solidFill>
                  <a:srgbClr val="64748B"/>
                </a:solidFill>
              </a:defRPr>
            </a:pPr>
            <a:r>
              <a:t>Pre-indexed repository of verified flagship state schemes for sub-second retrieval with real-time sync.</a:t>
            </a:r>
          </a:p>
        </p:txBody>
      </p:sp>
      <p:sp>
        <p:nvSpPr>
          <p:cNvPr id="13" name="Rectangle 12"/>
          <p:cNvSpPr/>
          <p:nvPr/>
        </p:nvSpPr>
        <p:spPr>
          <a:xfrm>
            <a:off x="6126480" y="3886200"/>
            <a:ext cx="91440" cy="201168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none" lIns="0" tIns="0" rIns="0" bIns="0">
            <a:spAutoFit/>
          </a:bodyPr>
          <a:lstStyle/>
          <a:p>
            <a:pPr>
              <a:defRPr sz="950" b="1">
                <a:solidFill>
                  <a:srgbClr val="EA580C"/>
                </a:solidFill>
              </a:defRPr>
            </a:pPr>
            <a:r>
              <a:t>TRACTION &amp; NATIONAL VISION</a:t>
            </a:r>
          </a:p>
        </p:txBody>
      </p:sp>
      <p:sp>
        <p:nvSpPr>
          <p:cNvPr id="4" name="TextBox 3"/>
          <p:cNvSpPr txBox="1"/>
          <p:nvPr/>
        </p:nvSpPr>
        <p:spPr>
          <a:xfrm>
            <a:off x="731520" y="685800"/>
            <a:ext cx="10698480" cy="640080"/>
          </a:xfrm>
          <a:prstGeom prst="rect">
            <a:avLst/>
          </a:prstGeom>
          <a:noFill/>
        </p:spPr>
        <p:txBody>
          <a:bodyPr wrap="none" lIns="0" tIns="0" rIns="0" bIns="0">
            <a:spAutoFit/>
          </a:bodyPr>
          <a:lstStyle/>
          <a:p>
            <a:pPr>
              <a:defRPr sz="2200" b="1">
                <a:solidFill>
                  <a:srgbClr val="0B192C"/>
                </a:solidFill>
              </a:defRPr>
            </a:pPr>
            <a:r>
              <a:t>Operational Today Across 3 States • Expanding to All of Bharat</a:t>
            </a:r>
          </a:p>
        </p:txBody>
      </p:sp>
      <p:sp>
        <p:nvSpPr>
          <p:cNvPr id="5" name="Rectangle 4"/>
          <p:cNvSpPr/>
          <p:nvPr/>
        </p:nvSpPr>
        <p:spPr>
          <a:xfrm>
            <a:off x="731520" y="132588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3413455" cy="34747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spcAft>
                <a:spcPts val="400"/>
              </a:spcAft>
              <a:defRPr sz="1000" b="1">
                <a:solidFill>
                  <a:srgbClr val="EA580C"/>
                </a:solidFill>
              </a:defRPr>
            </a:pPr>
            <a:r>
              <a:t>PHASE 1: LIVE MVP</a:t>
            </a:r>
          </a:p>
          <a:p>
            <a:pPr>
              <a:spcAft>
                <a:spcPts val="1000"/>
              </a:spcAft>
              <a:defRPr sz="1400" b="1">
                <a:solidFill>
                  <a:srgbClr val="0B192C"/>
                </a:solidFill>
              </a:defRPr>
            </a:pPr>
            <a:r>
              <a:t>Operational Today</a:t>
            </a:r>
          </a:p>
          <a:p>
            <a:pPr>
              <a:lnSpc>
                <a:spcPct val="125000"/>
              </a:lnSpc>
              <a:defRPr sz="1050">
                <a:solidFill>
                  <a:srgbClr val="64748B"/>
                </a:solidFill>
              </a:defRPr>
            </a:pPr>
            <a:r>
              <a:t>Live coverage across Uttar Pradesh, NCT of Delhi, and Bihar. Actively matching higher education scholarships, farmer subsidies, and social pensions.</a:t>
            </a:r>
          </a:p>
        </p:txBody>
      </p:sp>
      <p:sp>
        <p:nvSpPr>
          <p:cNvPr id="7" name="Rectangle 6"/>
          <p:cNvSpPr/>
          <p:nvPr/>
        </p:nvSpPr>
        <p:spPr>
          <a:xfrm>
            <a:off x="4389120" y="1645920"/>
            <a:ext cx="3413455" cy="34747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spcAft>
                <a:spcPts val="400"/>
              </a:spcAft>
              <a:defRPr sz="1000" b="1">
                <a:solidFill>
                  <a:srgbClr val="1D4ED8"/>
                </a:solidFill>
              </a:defRPr>
            </a:pPr>
            <a:r>
              <a:t>PHASE 2: VOICE FIRST</a:t>
            </a:r>
          </a:p>
          <a:p>
            <a:pPr>
              <a:spcAft>
                <a:spcPts val="1000"/>
              </a:spcAft>
              <a:defRPr sz="1400" b="1">
                <a:solidFill>
                  <a:srgbClr val="0B192C"/>
                </a:solidFill>
              </a:defRPr>
            </a:pPr>
            <a:r>
              <a:t>Bhashini &amp; Whisper Integration</a:t>
            </a:r>
          </a:p>
          <a:p>
            <a:pPr>
              <a:lnSpc>
                <a:spcPct val="125000"/>
              </a:lnSpc>
              <a:defRPr sz="1050">
                <a:solidFill>
                  <a:srgbClr val="64748B"/>
                </a:solidFill>
              </a:defRPr>
            </a:pPr>
            <a:r>
              <a:t>Empowering non-literate citizens to speak their profile in Hindi, Bhojpuri, Maithili, and Tamil via conversational voice agents.</a:t>
            </a:r>
          </a:p>
        </p:txBody>
      </p:sp>
      <p:sp>
        <p:nvSpPr>
          <p:cNvPr id="8" name="Rectangle 7"/>
          <p:cNvSpPr/>
          <p:nvPr/>
        </p:nvSpPr>
        <p:spPr>
          <a:xfrm>
            <a:off x="8046720" y="1645920"/>
            <a:ext cx="3413455" cy="34747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spcAft>
                <a:spcPts val="400"/>
              </a:spcAft>
              <a:defRPr sz="1000" b="1">
                <a:solidFill>
                  <a:srgbClr val="166534"/>
                </a:solidFill>
              </a:defRPr>
            </a:pPr>
            <a:r>
              <a:t>PHASE 3: DPI HAND-OFF</a:t>
            </a:r>
          </a:p>
          <a:p>
            <a:pPr>
              <a:spcAft>
                <a:spcPts val="1000"/>
              </a:spcAft>
              <a:defRPr sz="1400" b="1">
                <a:solidFill>
                  <a:srgbClr val="0B192C"/>
                </a:solidFill>
              </a:defRPr>
            </a:pPr>
            <a:r>
              <a:t>DigiLocker Integration</a:t>
            </a:r>
          </a:p>
          <a:p>
            <a:pPr>
              <a:lnSpc>
                <a:spcPct val="125000"/>
              </a:lnSpc>
              <a:defRPr sz="1050">
                <a:solidFill>
                  <a:srgbClr val="64748B"/>
                </a:solidFill>
              </a:defRPr>
            </a:pPr>
            <a:r>
              <a:t>1-click automated document verification via DigiLocker, directly populating state portal application forms.</a:t>
            </a:r>
          </a:p>
        </p:txBody>
      </p:sp>
      <p:sp>
        <p:nvSpPr>
          <p:cNvPr id="9" name="Rectangle 8"/>
          <p:cNvSpPr/>
          <p:nvPr/>
        </p:nvSpPr>
        <p:spPr>
          <a:xfrm>
            <a:off x="731520" y="5303520"/>
            <a:ext cx="10728655" cy="9144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wrap="square" tIns="228600"/>
          <a:lstStyle/>
          <a:p>
            <a:pPr algn="ctr">
              <a:defRPr sz="1200" b="1">
                <a:solidFill>
                  <a:srgbClr val="FFFFFF"/>
                </a:solidFill>
              </a:defRPr>
            </a:pPr>
            <a:r>
              <a:t>"Our goal is simple: No student in India should ever drop out of college simply because they didn't know a scholarship was waiting for them."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593"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593" y="0"/>
            <a:ext cx="4063593" cy="1097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187" y="0"/>
            <a:ext cx="4064508" cy="109728"/>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645920" y="1097280"/>
            <a:ext cx="8899855" cy="4846320"/>
          </a:xfrm>
          <a:prstGeom prst="rect">
            <a:avLst/>
          </a:prstGeom>
          <a:solidFill>
            <a:srgbClr val="112240"/>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tIns="548640" lIns="457200" rIns="457200"/>
          <a:lstStyle/>
          <a:p>
            <a:pPr algn="ctr">
              <a:spcAft>
                <a:spcPts val="800"/>
              </a:spcAft>
              <a:defRPr sz="4000" b="1">
                <a:solidFill>
                  <a:srgbClr val="FFFFFF"/>
                </a:solidFill>
              </a:defRPr>
            </a:pPr>
            <a:r>
              <a:t>THANK YOU</a:t>
            </a:r>
          </a:p>
          <a:p>
            <a:pPr algn="ctr">
              <a:spcAft>
                <a:spcPts val="2800"/>
              </a:spcAft>
              <a:defRPr sz="1600">
                <a:solidFill>
                  <a:srgbClr val="FB923C"/>
                </a:solidFill>
              </a:defRPr>
            </a:pPr>
            <a:r>
              <a:t>YojanaMitra • Public Welfare &amp; Scholarship Discovery Engine</a:t>
            </a:r>
          </a:p>
          <a:p>
            <a:pPr algn="ctr">
              <a:spcAft>
                <a:spcPts val="2000"/>
              </a:spcAft>
              <a:defRPr sz="1800" b="1">
                <a:solidFill>
                  <a:srgbClr val="FFFFFF"/>
                </a:solidFill>
              </a:defRPr>
            </a:pPr>
            <a:r>
              <a:t>We are ready for Live Demonstrations and Q&amp;A</a:t>
            </a:r>
          </a:p>
          <a:p>
            <a:pPr algn="ctr">
              <a:defRPr sz="1100">
                <a:solidFill>
                  <a:srgbClr val="94A3B8"/>
                </a:solidFill>
              </a:defRPr>
            </a:pPr>
            <a:r>
              <a:t>GitHub / Codebase: Shauryagupta4/YojnaMitra  •  Tech: React + MAS + TinyFish + Supabase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